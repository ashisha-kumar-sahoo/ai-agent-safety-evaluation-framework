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6" r:id="rId4"/>
    <p:sldId id="257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44" y="6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69401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dirty="0"/>
              <a:t>Paper </a:t>
            </a:r>
            <a:r>
              <a:rPr lang="en-IN" dirty="0"/>
              <a:t>1</a:t>
            </a:r>
            <a:r>
              <a:rPr dirty="0"/>
              <a:t>— AI Agent Safety: Framework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/>
            </a:pPr>
            <a:r>
              <a:t>AI Agents: Architecture, Safety Frameworks, and Emerging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rPr dirty="0"/>
              <a:t>• Fayaz Ali — Southeast European University — 2025.</a:t>
            </a:r>
          </a:p>
          <a:p>
            <a:pPr>
              <a:spcAft>
                <a:spcPts val="400"/>
              </a:spcAft>
              <a:defRPr sz="1450"/>
            </a:pPr>
            <a:r>
              <a:rPr dirty="0"/>
              <a:t>• Examines agent architectures, safety risks, controlled experiments and deployment governance.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Main Safety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927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rPr dirty="0"/>
              <a:t>• Alignment, robustness, interpretability, controllability and societal safety.</a:t>
            </a:r>
          </a:p>
          <a:p>
            <a:pPr>
              <a:spcAft>
                <a:spcPts val="400"/>
              </a:spcAft>
              <a:defRPr sz="1450"/>
            </a:pPr>
            <a:r>
              <a:rPr dirty="0"/>
              <a:t>• Covers reactive, BDI/deliberative, LLM-based and multi-agent architectures.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Four-Layer Safety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9943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1) Objective Alignment → 2) Behavioral Constraints → 3) Monitoring &amp; Auditability → 4) Societal Governance.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02543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dirty="0"/>
              <a:t>Paper </a:t>
            </a:r>
            <a:r>
              <a:rPr lang="en-IN" dirty="0"/>
              <a:t>1</a:t>
            </a:r>
            <a:r>
              <a:rPr dirty="0"/>
              <a:t>— Results, Advantages &amp; Drawbacks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/>
            </a:pPr>
            <a:r>
              <a:t>AI Agent Safety — Experimental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72" y="192481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rPr dirty="0"/>
              <a:t>• 200 benchmark tasks: Multi-Agent System 89% first-attempt completion; 70B + </a:t>
            </a:r>
            <a:r>
              <a:rPr dirty="0" err="1"/>
              <a:t>CoT</a:t>
            </a:r>
            <a:r>
              <a:rPr dirty="0"/>
              <a:t> 84%.</a:t>
            </a:r>
          </a:p>
          <a:p>
            <a:pPr>
              <a:spcAft>
                <a:spcPts val="400"/>
              </a:spcAft>
              <a:defRPr sz="1450"/>
            </a:pPr>
            <a:r>
              <a:rPr dirty="0"/>
              <a:t>• Adversarial trials (150 per agent): 7B LLM had 14% unsafe output; guardrails reduced 70B unsafe output from 12% to 7%.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935224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927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rPr dirty="0"/>
              <a:t>• Connects prevention, runtime controls, monitoring and governance in one lifecycle.</a:t>
            </a:r>
          </a:p>
          <a:p>
            <a:pPr>
              <a:spcAft>
                <a:spcPts val="400"/>
              </a:spcAft>
              <a:defRPr sz="1450"/>
            </a:pPr>
            <a:r>
              <a:rPr dirty="0"/>
              <a:t>• Tests prompt injection, goal misspecification, distributional shift and multi-agent coordination.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Drawbacks / Open 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9943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rPr dirty="0"/>
              <a:t>• Paper identifies need for stronger prompt-injection defenses and scalable human oversight.</a:t>
            </a:r>
          </a:p>
          <a:p>
            <a:pPr>
              <a:spcAft>
                <a:spcPts val="400"/>
              </a:spcAft>
              <a:defRPr sz="1450"/>
            </a:pPr>
            <a:r>
              <a:rPr dirty="0"/>
              <a:t>• Longitudinal evaluation under distribution shift and cross-disciplinary governance remain future research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Use for Our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959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rPr dirty="0"/>
              <a:t>• Useful for defining safety controls and governance layers around the evaluation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38359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dirty="0"/>
              <a:t>Paper </a:t>
            </a:r>
            <a:r>
              <a:rPr lang="en-IN" dirty="0"/>
              <a:t>2</a:t>
            </a:r>
            <a:r>
              <a:rPr dirty="0"/>
              <a:t> — EAEF: Framework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/>
            </a:pPr>
            <a:r>
              <a:t>Enterprise Agent Evaluation Framework for Autonomous AI Systems: A Multi-Dimensional Approach to Reliability, Safety, and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Baradwaj Bandi Sudakara — IJFIST, Volume 7, Issue 4, July–August 2024.</a:t>
            </a:r>
          </a:p>
          <a:p>
            <a:pPr>
              <a:spcAft>
                <a:spcPts val="400"/>
              </a:spcAft>
              <a:defRPr sz="1450"/>
            </a:pPr>
            <a:r>
              <a:t>• Goal: evaluate enterprise AI agents beyond isolated benchmark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Main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927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12 dimensions: reasoning, groundedness, hallucination, tools, workflow, memory, multi-agent coordination, security/compliance, latency, cost, reliability, human satisfaction.</a:t>
            </a:r>
          </a:p>
          <a:p>
            <a:pPr>
              <a:spcAft>
                <a:spcPts val="400"/>
              </a:spcAft>
              <a:defRPr sz="1450"/>
            </a:pPr>
            <a:r>
              <a:t>• Weighted Enterprise Agent Score (EAS) + continuous evaluation in CI/CD / DevSecOps.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9943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Case study: autonomous software quality-engineering agent for enterprise API testing.</a:t>
            </a:r>
          </a:p>
          <a:p>
            <a:pPr>
              <a:spcAft>
                <a:spcPts val="400"/>
              </a:spcAft>
              <a:defRPr sz="1450"/>
            </a:pPr>
            <a:r>
              <a:t>• Telemetry includes workflow execution, API interactions, reasoning traces, memory updates, logs and user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09756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dirty="0"/>
              <a:t>Paper</a:t>
            </a:r>
            <a:r>
              <a:rPr lang="en-IN" dirty="0"/>
              <a:t> 2</a:t>
            </a:r>
            <a:r>
              <a:rPr dirty="0"/>
              <a:t> — Results, Advantages &amp; Drawbacks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/>
            </a:pPr>
            <a:r>
              <a:t>EAEF — Enterprise Agent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Overall EAS = 0.92; Security Compliance = 0.97; Hallucination Detection = 0.95.</a:t>
            </a:r>
          </a:p>
          <a:p>
            <a:pPr>
              <a:spcAft>
                <a:spcPts val="400"/>
              </a:spcAft>
              <a:defRPr sz="1450"/>
            </a:pPr>
            <a:r>
              <a:t>• Workflow Completion = 0.94; Reliability = 0.94; Human Satisfaction = 0.92.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927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Holistic evaluation covering technical, operational, governance and human-centered quality.</a:t>
            </a:r>
          </a:p>
          <a:p>
            <a:pPr>
              <a:spcAft>
                <a:spcPts val="400"/>
              </a:spcAft>
              <a:defRPr sz="1450"/>
            </a:pPr>
            <a:r>
              <a:t>• Extensible: organizations can add domain-specific metrics; supports continuous lifecycle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Drawbacks / Open 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9943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The paper's future work calls for adaptive weighting, self-evolving metrics, multimodal agents, federated evaluation and explainable EAS.</a:t>
            </a:r>
          </a:p>
          <a:p>
            <a:pPr>
              <a:spcAft>
                <a:spcPts val="400"/>
              </a:spcAft>
              <a:defRPr sz="1450"/>
            </a:pPr>
            <a:r>
              <a:t>• Future work also targets enterprise-specific benchmarks and industry-specific evaluation profiles.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Use for Our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959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Strong basis for our scoring architecture and overall evaluation lifecycle.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rPr dirty="0"/>
              <a:t>Paper 3 — OPENAGENTSAFETY: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/>
            </a:pPr>
            <a:r>
              <a:t>OPENAGENTSAFETY: A Comprehensive Framework for Evaluating Real-World AI Agent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Sanidhya Vijayvargiya, Aditya Bharat Soni, Xuhui Zhou, Zora Zhiruo Wang, Nouha Dziri, Graham Neubig, Maarten Sap.</a:t>
            </a:r>
          </a:p>
          <a:p>
            <a:pPr>
              <a:spcAft>
                <a:spcPts val="400"/>
              </a:spcAft>
              <a:defRPr sz="1450"/>
            </a:pPr>
            <a:r>
              <a:t>• Published as a conference paper at ICLR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Main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927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350+ executable tasks across 8 safety-risk categories.</a:t>
            </a:r>
          </a:p>
          <a:p>
            <a:pPr>
              <a:spcAft>
                <a:spcPts val="400"/>
              </a:spcAft>
              <a:defRPr sz="1450"/>
            </a:pPr>
            <a:r>
              <a:t>• Real tools: browser, code execution, file system, bash terminal and messaging.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Evaluation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9943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Multi-turn + multi-user scenarios with benign, ambiguous and adversarial intents.</a:t>
            </a:r>
          </a:p>
          <a:p>
            <a:pPr>
              <a:spcAft>
                <a:spcPts val="400"/>
              </a:spcAft>
              <a:defRPr sz="1450"/>
            </a:pPr>
            <a:r>
              <a:t>• Sandboxed Docker environments + rule-based evaluator + LLM-as-Judge.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Paper 3 — Results, Advantages &amp; Drawbacks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/>
            </a:pPr>
            <a:r>
              <a:t>OPENAGENTSAFETY — Real-World Agent Safety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Seven LLMs showed unsafe behavior in about 49%–73% of safety-vulnerable tasks.</a:t>
            </a:r>
          </a:p>
          <a:p>
            <a:pPr>
              <a:spcAft>
                <a:spcPts val="400"/>
              </a:spcAft>
              <a:defRPr sz="1450"/>
            </a:pPr>
            <a:r>
              <a:t>• The framework exposes failures involving tools, conflicting instructions, privacy, security and other systemic risks.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927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More realistic than static benchmarks: real tools, long-horizon tasks, social interaction and adversarial intent.</a:t>
            </a:r>
          </a:p>
          <a:p>
            <a:pPr>
              <a:spcAft>
                <a:spcPts val="400"/>
              </a:spcAft>
              <a:defRPr sz="1450"/>
            </a:pPr>
            <a:r>
              <a:t>• Hybrid evaluation catches both persistent harmful outcomes and attempted/subtle unsafe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Drawbacks /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9943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Agents may fail before reaching safety-vulnerable states because of exploration and dynamic-environment difficulties.</a:t>
            </a:r>
          </a:p>
          <a:p>
            <a:pPr>
              <a:spcAft>
                <a:spcPts val="400"/>
              </a:spcAft>
              <a:defRPr sz="1450"/>
            </a:pPr>
            <a:r>
              <a:t>• NPC deviations and the difficulty of scaling realistic execution environments remain limitations.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Use for Our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959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Closest supplied paper to our target: directly informs our safety scenarios, risk taxonomy and evaluator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Paper 4 — Financial Stability: Frameworks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/>
            </a:pPr>
            <a:r>
              <a:t>Advancing innovation in financial stability: A comprehensive review of AI agent frameworks, challenges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Satyadhar Joshi — World Journal of Advanced Engineering Technology and Sciences, 2025, 14(02), 117–126.</a:t>
            </a:r>
          </a:p>
          <a:p>
            <a:pPr>
              <a:spcAft>
                <a:spcPts val="400"/>
              </a:spcAft>
              <a:defRPr sz="1450"/>
            </a:pPr>
            <a:r>
              <a:t>• DOI: 10.30574/wjaets.2025.14.2.0071.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Frameworks &amp;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927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Reviews LangGraph, CrewAI, AutoGen and other agent frameworks.</a:t>
            </a:r>
          </a:p>
          <a:p>
            <a:pPr>
              <a:spcAft>
                <a:spcPts val="400"/>
              </a:spcAft>
              <a:defRPr sz="1450"/>
            </a:pPr>
            <a:r>
              <a:t>• Applications: trading, investment analysis, risk assessment, fraud detection and financial decision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Main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9943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Reliability, explainability, ethics, autonomous-system risk, regulatory compliance and model robustness.</a:t>
            </a:r>
          </a:p>
          <a:p>
            <a:pPr>
              <a:spcAft>
                <a:spcPts val="400"/>
              </a:spcAft>
              <a:defRPr sz="1450"/>
            </a:pPr>
            <a:r>
              <a:t>• Also highlights transparency, interpretability, security, data quality and scalability.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Paper 4 — Advantages, Drawbacks &amp; 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/>
            </a:pPr>
            <a:r>
              <a:t>Financial Stability — AI Agent Framework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Provides a broad comparison of agent frameworks and their suitability for complex financial tasks.</a:t>
            </a:r>
          </a:p>
          <a:p>
            <a:pPr>
              <a:spcAft>
                <a:spcPts val="400"/>
              </a:spcAft>
              <a:defRPr sz="1450"/>
            </a:pPr>
            <a:r>
              <a:t>• Connects agent technology with real financial use cases, risk management and regulatory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Drawbacks / Open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927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The review identifies unresolved reliability and explainability issues in financial decisions.</a:t>
            </a:r>
          </a:p>
          <a:p>
            <a:pPr>
              <a:spcAft>
                <a:spcPts val="400"/>
              </a:spcAft>
              <a:defRPr sz="1450"/>
            </a:pPr>
            <a:r>
              <a:t>• Regulatory compliance, ethical concerns, data quality and scalable deployment remain open challenges.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Future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9943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More robust and explainable models, better data quality, stronger regulatory/ethical controls and improved multi-agent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Use for Our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79592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/>
            </a:pPr>
            <a:r>
              <a:t>• Useful for adding domain-specific safety requirements: financial risk, compliance, explainability and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Conclusion — Research Gap &amp; Proposed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Overall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81912"/>
            <a:ext cx="10378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/>
            </a:pPr>
            <a:r>
              <a:t>• The four papers show that AI-agent evaluation must go beyond task accuracy and include safety, reliability, tools, governance and real-world behavior.</a:t>
            </a:r>
          </a:p>
          <a:p>
            <a:pPr>
              <a:spcAft>
                <a:spcPts val="700"/>
              </a:spcAft>
              <a:defRPr sz="1450"/>
            </a:pPr>
            <a:r>
              <a:t>• EAEF provides multi-dimensional enterprise scoring; Fayaz Ali provides layered safety controls; OPENAGENTSAFETY provides realistic executable safety evaluation; Joshi highlights domain-specific risks and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Key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53512"/>
            <a:ext cx="10378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/>
            </a:pPr>
            <a:r>
              <a:t>• No single supplied paper combines enterprise quality scoring, layered safety controls, realistic multi-turn tool-based safety scenarios, and domain-specific risk requirements into one unified framework.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77639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Proposed Direction for Our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25112"/>
            <a:ext cx="10378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/>
            </a:pPr>
            <a:r>
              <a:t>• Combine multi-dimensional scoring + preventive guardrails + realistic executable safety tasks + hybrid rule-based/LLM evaluation.</a:t>
            </a:r>
          </a:p>
          <a:p>
            <a:pPr>
              <a:spcAft>
                <a:spcPts val="700"/>
              </a:spcAft>
              <a:defRPr sz="1450"/>
            </a:pPr>
            <a:r>
              <a:t>• Evaluate alignment, prompt-injection resistance, privacy, security, unsafe tool use, reliability, compliance and human oversight.</a:t>
            </a:r>
          </a:p>
          <a:p>
            <a:pPr>
              <a:spcAft>
                <a:spcPts val="700"/>
              </a:spcAft>
              <a:defRPr sz="1450"/>
            </a:pPr>
            <a:r>
              <a:t>• Generate a final safety/readiness score with detailed failure reports and continuous monitoring.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492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Final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96712"/>
            <a:ext cx="10378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/>
            </a:pPr>
            <a:r>
              <a:t>• OPENAGENTSAFETY is the closest foundation for safety benchmarking, while EAEF is the strongest foundation for overall evaluation and scoring.</a:t>
            </a:r>
          </a:p>
          <a:p>
            <a:pPr>
              <a:spcAft>
                <a:spcPts val="700"/>
              </a:spcAft>
              <a:defRPr sz="1450"/>
            </a:pPr>
            <a:r>
              <a:t>• Together with the safety layers and domain-risk insights from the other two papers, these works provide a strong research base for our AI Agent Safety Evaluation Framework.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Presentaton</Template>
  <TotalTime>32</TotalTime>
  <Words>1215</Words>
  <Application>Microsoft Office PowerPoint</Application>
  <PresentationFormat>Widescreen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Ashisha Kumar Sahoo</dc:creator>
  <cp:keywords/>
  <dc:description>generated using python-pptx</dc:description>
  <cp:lastModifiedBy>Ashisha Kumar Sahoo</cp:lastModifiedBy>
  <cp:revision>1</cp:revision>
  <dcterms:created xsi:type="dcterms:W3CDTF">2026-08-31T13:25:55Z</dcterms:created>
  <dcterms:modified xsi:type="dcterms:W3CDTF">2026-09-07T17:10:24Z</dcterms:modified>
  <cp:category/>
</cp:coreProperties>
</file>